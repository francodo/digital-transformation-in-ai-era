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50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8530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Executive ROI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7853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dirty="0">
                <a:solidFill>
                  <a:srgbClr val="E6E6E6"/>
                </a:solidFill>
              </a:rPr>
              <a:t>AI-Powered Medicare Fraud Detection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94EB9C-3D3D-50DD-9084-607507589861}"/>
              </a:ext>
            </a:extLst>
          </p:cNvPr>
          <p:cNvSpPr txBox="1"/>
          <p:nvPr/>
        </p:nvSpPr>
        <p:spPr>
          <a:xfrm>
            <a:off x="-609600" y="6488668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Francis Odo</a:t>
            </a:r>
            <a:endParaRPr sz="1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59"/>
            <a:ext cx="9144000" cy="6400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1. Investment Requirements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068469"/>
              </p:ext>
            </p:extLst>
          </p:nvPr>
        </p:nvGraphicFramePr>
        <p:xfrm>
          <a:off x="40821" y="1371600"/>
          <a:ext cx="894805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4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4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AI system development &amp; deployment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F2937"/>
                          </a:solidFill>
                        </a:rPr>
                        <a:t>$500,000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F2937"/>
                          </a:solidFill>
                        </a:rPr>
                        <a:t>Staff training &amp; onboarding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F2937"/>
                          </a:solidFill>
                        </a:rPr>
                        <a:t>$50,000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Annual maintenance &amp; support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F2937"/>
                          </a:solidFill>
                        </a:rPr>
                        <a:t>$50,000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Total First-Year Cost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F2937"/>
                          </a:solidFill>
                        </a:rPr>
                        <a:t>$600,000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42900" y="5815474"/>
            <a:ext cx="8458200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81153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0A2342"/>
                </a:solidFill>
              </a:rPr>
              <a:t>Initial investment required for AI deployment and operational readiness.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3999" cy="6400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2. Current Fraud Detection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772729"/>
              </p:ext>
            </p:extLst>
          </p:nvPr>
        </p:nvGraphicFramePr>
        <p:xfrm>
          <a:off x="-1" y="141732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Annual fraudulent claims processed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10,000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Average fraudulent claim amount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$5,000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Current fraud detection rate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70%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Annual fraud losses prevented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F2937"/>
                          </a:solidFill>
                        </a:rPr>
                        <a:t>$35.0 million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28598" y="6111458"/>
            <a:ext cx="8686801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 flipV="1">
            <a:off x="-257991" y="6285304"/>
            <a:ext cx="71649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0A2342"/>
                </a:solidFill>
              </a:rPr>
              <a:t>Current systems prevent approximately $35M in fraud losses annually.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3. Post-AI Fraud Detection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636362"/>
              </p:ext>
            </p:extLst>
          </p:nvPr>
        </p:nvGraphicFramePr>
        <p:xfrm>
          <a:off x="114300" y="13716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Improved fraud detection rate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Fraudulent claims identified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9,000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F2937"/>
                          </a:solidFill>
                        </a:rPr>
                        <a:t>Detection improvement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20 percentage points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Additional annual fraud savings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F2937"/>
                          </a:solidFill>
                        </a:rPr>
                        <a:t>$10.0 million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0" y="6108192"/>
            <a:ext cx="9144000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96143" y="6291072"/>
            <a:ext cx="734785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2342"/>
                </a:solidFill>
              </a:rPr>
              <a:t>AI significantly improves fraud identification accuracy and savings.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4. Operational Efficiency Savings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241273"/>
              </p:ext>
            </p:extLst>
          </p:nvPr>
        </p:nvGraphicFramePr>
        <p:xfrm>
          <a:off x="130629" y="1371600"/>
          <a:ext cx="873578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7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7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Reduced manual claims review labor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$200,000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Reduction in false-positive reviews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$100,000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Total Operational Savings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F2937"/>
                          </a:solidFill>
                        </a:rPr>
                        <a:t>$300,000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0" y="6117336"/>
            <a:ext cx="9144000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51076" y="6300216"/>
            <a:ext cx="603765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2342"/>
                </a:solidFill>
              </a:rPr>
              <a:t>Operational automation reduces administrative overhead and review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5. Total Annual Financial Benefit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009125"/>
              </p:ext>
            </p:extLst>
          </p:nvPr>
        </p:nvGraphicFramePr>
        <p:xfrm>
          <a:off x="0" y="1518557"/>
          <a:ext cx="9144000" cy="2890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Additional fraud prevention savings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F2937"/>
                          </a:solidFill>
                        </a:rPr>
                        <a:t>$10,000,000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357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Operational cost savings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$300,000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Total Annual Benefits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F2937"/>
                          </a:solidFill>
                        </a:rPr>
                        <a:t>$10,300,000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0" y="6217920"/>
            <a:ext cx="9144000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85109" y="6330914"/>
            <a:ext cx="70506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0A2342"/>
                </a:solidFill>
              </a:rPr>
              <a:t>Combined benefits demonstrate strong enterprise financial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6. ROI &amp; Break-Even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393084"/>
              </p:ext>
            </p:extLst>
          </p:nvPr>
        </p:nvGraphicFramePr>
        <p:xfrm>
          <a:off x="0" y="1545336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Net first-year gain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$9.7 million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First-year ROI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F2937"/>
                          </a:solidFill>
                        </a:rPr>
                        <a:t>1,617%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Estimated monthly benefit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$858,333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Estimated break-even period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F2937"/>
                          </a:solidFill>
                        </a:rPr>
                        <a:t>Less than 1 month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0" y="6150646"/>
            <a:ext cx="9144000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70809" y="6333526"/>
            <a:ext cx="595666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0A2342"/>
                </a:solidFill>
              </a:rPr>
              <a:t>The AI investment is projected to deliver rapid payback and long-term ROI.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Executive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6744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  <a:defRPr sz="2000">
                <a:solidFill>
                  <a:srgbClr val="1F2937"/>
                </a:solidFill>
              </a:defRPr>
            </a:pPr>
            <a:r>
              <a:rPr dirty="0"/>
              <a:t>$10.3M annual financial benefit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  <a:defRPr sz="2000">
                <a:solidFill>
                  <a:srgbClr val="1F2937"/>
                </a:solidFill>
              </a:defRPr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  <a:defRPr sz="2000">
                <a:solidFill>
                  <a:srgbClr val="1F2937"/>
                </a:solidFill>
              </a:defRPr>
            </a:pPr>
            <a:r>
              <a:rPr lang="en-US" dirty="0"/>
              <a:t> </a:t>
            </a:r>
            <a:r>
              <a:rPr dirty="0"/>
              <a:t>$9.7M projected first-year net gain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  <a:defRPr sz="2000">
                <a:solidFill>
                  <a:srgbClr val="1F2937"/>
                </a:solidFill>
              </a:defRPr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  <a:defRPr sz="2000">
                <a:solidFill>
                  <a:srgbClr val="1F2937"/>
                </a:solidFill>
              </a:defRPr>
            </a:pPr>
            <a:r>
              <a:rPr dirty="0"/>
              <a:t>1,617% estimated first-year ROI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  <a:defRPr sz="2000">
                <a:solidFill>
                  <a:srgbClr val="1F2937"/>
                </a:solidFill>
              </a:defRPr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  <a:defRPr sz="2000">
                <a:solidFill>
                  <a:srgbClr val="1F2937"/>
                </a:solidFill>
              </a:defRPr>
            </a:pPr>
            <a:r>
              <a:rPr dirty="0"/>
              <a:t>Break-even achieved in under one month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  <a:defRPr sz="2000">
                <a:solidFill>
                  <a:srgbClr val="1F2937"/>
                </a:solidFill>
              </a:defRPr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  <a:defRPr sz="2000">
                <a:solidFill>
                  <a:srgbClr val="1F2937"/>
                </a:solidFill>
              </a:defRPr>
            </a:pPr>
            <a:r>
              <a:rPr dirty="0"/>
              <a:t>Improved operational efficiency and fraud prevention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259</Words>
  <Application>Microsoft Office PowerPoint</Application>
  <PresentationFormat>On-screen Show (4:3)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 Odo</cp:lastModifiedBy>
  <cp:revision>9</cp:revision>
  <dcterms:created xsi:type="dcterms:W3CDTF">2013-01-27T09:14:16Z</dcterms:created>
  <dcterms:modified xsi:type="dcterms:W3CDTF">2026-05-22T18:54:25Z</dcterms:modified>
  <cp:category/>
</cp:coreProperties>
</file>